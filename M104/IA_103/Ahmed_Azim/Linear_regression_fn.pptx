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64" r:id="rId3"/>
    <p:sldId id="261" r:id="rId4"/>
    <p:sldId id="259" r:id="rId5"/>
    <p:sldId id="260" r:id="rId6"/>
    <p:sldId id="263" r:id="rId7"/>
    <p:sldId id="265" r:id="rId8"/>
    <p:sldId id="266" r:id="rId9"/>
    <p:sldId id="268" r:id="rId10"/>
    <p:sldId id="269" r:id="rId11"/>
    <p:sldId id="270" r:id="rId12"/>
    <p:sldId id="271" r:id="rId13"/>
    <p:sldId id="267" r:id="rId14"/>
    <p:sldId id="273" r:id="rId15"/>
    <p:sldId id="274" r:id="rId16"/>
    <p:sldId id="278" r:id="rId17"/>
    <p:sldId id="276" r:id="rId18"/>
    <p:sldId id="277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7FC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0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9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9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5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4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26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1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51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0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9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1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79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4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5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16.pn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17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media" Target="../media/media8.mp4"/><Relationship Id="rId7" Type="http://schemas.openxmlformats.org/officeDocument/2006/relationships/image" Target="../media/image18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2.jp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8.mp4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media" Target="../media/media9.mp4"/><Relationship Id="rId7" Type="http://schemas.openxmlformats.org/officeDocument/2006/relationships/image" Target="../media/image18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2.jp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9.mp4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Image 5" descr="Une image contenant capture d’écran, bleu, Bleu électrique, Caractère coloré&#10;&#10;Description générée automatiquement">
            <a:extLst>
              <a:ext uri="{FF2B5EF4-FFF2-40B4-BE49-F238E27FC236}">
                <a16:creationId xmlns:a16="http://schemas.microsoft.com/office/drawing/2014/main" id="{111CF612-89FC-56C6-41C2-5EE0220B4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05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314BC03-E5E4-7FCE-E412-857CF3FFF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78" y="472342"/>
            <a:ext cx="6911518" cy="974347"/>
          </a:xfrm>
          <a:ln>
            <a:solidFill>
              <a:srgbClr val="00B0F0"/>
            </a:solidFill>
          </a:ln>
        </p:spPr>
        <p:txBody>
          <a:bodyPr anchor="ctr">
            <a:noAutofit/>
          </a:bodyPr>
          <a:lstStyle/>
          <a:p>
            <a:r>
              <a:rPr lang="fr-FR" dirty="0" err="1">
                <a:latin typeface="Arial Nova Light" panose="020B0304020202020204" pitchFamily="34" charset="0"/>
              </a:rPr>
              <a:t>Linear</a:t>
            </a:r>
            <a:r>
              <a:rPr lang="fr-FR" dirty="0">
                <a:latin typeface="Arial Nova Light" panose="020B0304020202020204" pitchFamily="34" charset="0"/>
              </a:rPr>
              <a:t> </a:t>
            </a:r>
            <a:r>
              <a:rPr lang="fr-FR" dirty="0" err="1">
                <a:latin typeface="Arial Nova Light" panose="020B0304020202020204" pitchFamily="34" charset="0"/>
              </a:rPr>
              <a:t>Regression</a:t>
            </a:r>
            <a:endParaRPr lang="fr-FR" dirty="0">
              <a:latin typeface="Arial Nova Light" panose="020B03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7EA5774-2A94-07C5-4FCA-FD654418A4E8}"/>
              </a:ext>
            </a:extLst>
          </p:cNvPr>
          <p:cNvSpPr txBox="1"/>
          <p:nvPr/>
        </p:nvSpPr>
        <p:spPr>
          <a:xfrm>
            <a:off x="714578" y="2779776"/>
            <a:ext cx="114774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B0F0"/>
                </a:solidFill>
              </a:rPr>
              <a:t>I   - </a:t>
            </a:r>
            <a:r>
              <a:rPr lang="fr-FR" sz="2400" dirty="0">
                <a:latin typeface="Berlin Sans FB" panose="020E0602020502020306" pitchFamily="34" charset="0"/>
              </a:rPr>
              <a:t>INTRODUCTION</a:t>
            </a:r>
          </a:p>
          <a:p>
            <a:endParaRPr lang="fr-FR" sz="2400" dirty="0"/>
          </a:p>
          <a:p>
            <a:r>
              <a:rPr lang="fr-FR" sz="2400" dirty="0">
                <a:solidFill>
                  <a:srgbClr val="00B0F0"/>
                </a:solidFill>
              </a:rPr>
              <a:t>II  - </a:t>
            </a:r>
            <a:r>
              <a:rPr lang="en-US" sz="2400" dirty="0">
                <a:latin typeface="Berlin Sans FB" panose="020E0602020502020306" pitchFamily="34" charset="0"/>
              </a:rPr>
              <a:t>Real-life example</a:t>
            </a:r>
            <a:endParaRPr lang="fr-FR" sz="2400" dirty="0">
              <a:latin typeface="Berlin Sans FB" panose="020E0602020502020306" pitchFamily="34" charset="0"/>
            </a:endParaRPr>
          </a:p>
          <a:p>
            <a:endParaRPr lang="fr-FR" sz="2400" dirty="0"/>
          </a:p>
          <a:p>
            <a:r>
              <a:rPr lang="fr-FR" sz="2400" dirty="0">
                <a:solidFill>
                  <a:srgbClr val="00B0F0"/>
                </a:solidFill>
              </a:rPr>
              <a:t>III – </a:t>
            </a:r>
            <a:r>
              <a:rPr lang="en-US" sz="2400" dirty="0">
                <a:latin typeface="Berlin Sans FB" panose="020E0602020502020306" pitchFamily="34" charset="0"/>
              </a:rPr>
              <a:t>How it works (The Mathematics Behind It)</a:t>
            </a:r>
          </a:p>
          <a:p>
            <a:endParaRPr lang="en-US" sz="2400" dirty="0">
              <a:latin typeface="Berlin Sans FB" panose="020E0602020502020306" pitchFamily="34" charset="0"/>
            </a:endParaRPr>
          </a:p>
          <a:p>
            <a:r>
              <a:rPr lang="fr-FR" sz="2400" dirty="0">
                <a:solidFill>
                  <a:srgbClr val="00B0F0"/>
                </a:solidFill>
              </a:rPr>
              <a:t>I</a:t>
            </a:r>
            <a:r>
              <a:rPr lang="en-US" sz="2400" dirty="0">
                <a:solidFill>
                  <a:srgbClr val="00B0F0"/>
                </a:solidFill>
              </a:rPr>
              <a:t>V</a:t>
            </a:r>
            <a:r>
              <a:rPr lang="fr-FR" sz="2400" dirty="0">
                <a:solidFill>
                  <a:srgbClr val="00B0F0"/>
                </a:solidFill>
              </a:rPr>
              <a:t> –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>
                <a:latin typeface="Berlin Sans FB" panose="020E0602020502020306" pitchFamily="34" charset="0"/>
              </a:rPr>
              <a:t>Validation in Machine Learning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endParaRPr lang="fr-FR" sz="2400" dirty="0">
              <a:latin typeface="Berlin Sans FB" panose="020E0602020502020306" pitchFamily="34" charset="0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73525637-4519-7E21-3DA1-A27A45E8726F}"/>
              </a:ext>
            </a:extLst>
          </p:cNvPr>
          <p:cNvSpPr/>
          <p:nvPr/>
        </p:nvSpPr>
        <p:spPr>
          <a:xfrm>
            <a:off x="9856269" y="4870383"/>
            <a:ext cx="1621153" cy="1280160"/>
          </a:xfrm>
          <a:prstGeom prst="flowChartProcess">
            <a:avLst/>
          </a:prstGeom>
          <a:solidFill>
            <a:srgbClr val="002060"/>
          </a:solidFill>
          <a:ln w="12700" cap="flat" cmpd="sng" algn="ctr">
            <a:solidFill>
              <a:srgbClr val="CCFFFF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248D3-0812-CDBA-7797-09F475BC7318}"/>
              </a:ext>
            </a:extLst>
          </p:cNvPr>
          <p:cNvSpPr txBox="1"/>
          <p:nvPr/>
        </p:nvSpPr>
        <p:spPr>
          <a:xfrm>
            <a:off x="9442383" y="4870383"/>
            <a:ext cx="2492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rgbClr val="FFC000"/>
                </a:solidFill>
              </a:rPr>
              <a:t>Presented</a:t>
            </a:r>
            <a:r>
              <a:rPr lang="fr-FR" dirty="0">
                <a:solidFill>
                  <a:srgbClr val="FFC000"/>
                </a:solidFill>
              </a:rPr>
              <a:t> by :</a:t>
            </a:r>
          </a:p>
          <a:p>
            <a:pPr algn="ctr"/>
            <a:r>
              <a:rPr lang="fr-FR" dirty="0"/>
              <a:t>Ahmed </a:t>
            </a:r>
            <a:r>
              <a:rPr lang="fr-FR" dirty="0" err="1"/>
              <a:t>azim</a:t>
            </a:r>
            <a:endParaRPr lang="fr-FR" dirty="0"/>
          </a:p>
          <a:p>
            <a:pPr algn="ctr"/>
            <a:r>
              <a:rPr lang="fr-FR" dirty="0" err="1">
                <a:solidFill>
                  <a:srgbClr val="FFC000"/>
                </a:solidFill>
              </a:rPr>
              <a:t>Supervised</a:t>
            </a:r>
            <a:r>
              <a:rPr lang="fr-FR" dirty="0">
                <a:solidFill>
                  <a:srgbClr val="FFC000"/>
                </a:solidFill>
              </a:rPr>
              <a:t> by :</a:t>
            </a:r>
          </a:p>
          <a:p>
            <a:pPr algn="ctr"/>
            <a:r>
              <a:rPr lang="fr-FR" dirty="0"/>
              <a:t>Mr. </a:t>
            </a:r>
            <a:r>
              <a:rPr lang="fr-FR" dirty="0" err="1"/>
              <a:t>Kella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9818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C6F7-0293-F154-2D8B-EEDD2CC9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C147C83A-4DB7-25FD-99E1-CB10436AD9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400F2A4-A53A-78A9-643B-F7ACA60A7BFD}"/>
              </a:ext>
            </a:extLst>
          </p:cNvPr>
          <p:cNvSpPr txBox="1"/>
          <p:nvPr/>
        </p:nvSpPr>
        <p:spPr>
          <a:xfrm>
            <a:off x="4135353" y="191998"/>
            <a:ext cx="391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AA5149-DE2D-1914-FF41-9D0E118DD58F}"/>
              </a:ext>
            </a:extLst>
          </p:cNvPr>
          <p:cNvSpPr txBox="1"/>
          <p:nvPr/>
        </p:nvSpPr>
        <p:spPr>
          <a:xfrm>
            <a:off x="923544" y="987552"/>
            <a:ext cx="4754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solidFill>
                  <a:schemeClr val="bg1"/>
                </a:solidFill>
              </a:rPr>
              <a:t>What</a:t>
            </a:r>
            <a:r>
              <a:rPr lang="fr-FR" sz="2000" b="1" dirty="0">
                <a:solidFill>
                  <a:schemeClr val="bg1"/>
                </a:solidFill>
              </a:rPr>
              <a:t> </a:t>
            </a:r>
            <a:r>
              <a:rPr lang="fr-FR" sz="2000" b="1" dirty="0" err="1">
                <a:solidFill>
                  <a:schemeClr val="bg1"/>
                </a:solidFill>
              </a:rPr>
              <a:t>is</a:t>
            </a:r>
            <a:r>
              <a:rPr lang="fr-FR" sz="2000" b="1" dirty="0">
                <a:solidFill>
                  <a:schemeClr val="bg1"/>
                </a:solidFill>
              </a:rPr>
              <a:t> </a:t>
            </a:r>
            <a:r>
              <a:rPr lang="fr-FR" sz="2000" b="1" dirty="0" err="1">
                <a:solidFill>
                  <a:schemeClr val="bg1"/>
                </a:solidFill>
              </a:rPr>
              <a:t>linear</a:t>
            </a:r>
            <a:r>
              <a:rPr lang="fr-FR" sz="2000" b="1" dirty="0">
                <a:solidFill>
                  <a:schemeClr val="bg1"/>
                </a:solidFill>
              </a:rPr>
              <a:t> </a:t>
            </a:r>
            <a:r>
              <a:rPr lang="fr-FR" sz="2000" b="1" dirty="0" err="1">
                <a:solidFill>
                  <a:schemeClr val="bg1"/>
                </a:solidFill>
              </a:rPr>
              <a:t>regression</a:t>
            </a:r>
            <a:r>
              <a:rPr lang="fr-FR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8" name="Étoile : 4 branches 7">
            <a:extLst>
              <a:ext uri="{FF2B5EF4-FFF2-40B4-BE49-F238E27FC236}">
                <a16:creationId xmlns:a16="http://schemas.microsoft.com/office/drawing/2014/main" id="{8403137A-3BF2-845C-AFAC-4B0123E9D0DD}"/>
              </a:ext>
            </a:extLst>
          </p:cNvPr>
          <p:cNvSpPr/>
          <p:nvPr/>
        </p:nvSpPr>
        <p:spPr>
          <a:xfrm>
            <a:off x="423260" y="987552"/>
            <a:ext cx="475488" cy="400104"/>
          </a:xfrm>
          <a:prstGeom prst="star4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AA89065-8FDB-6FAE-623F-89F36DE9AA61}"/>
              </a:ext>
            </a:extLst>
          </p:cNvPr>
          <p:cNvSpPr txBox="1"/>
          <p:nvPr/>
        </p:nvSpPr>
        <p:spPr>
          <a:xfrm>
            <a:off x="885444" y="1551773"/>
            <a:ext cx="10506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 statistics , a </a:t>
            </a:r>
            <a:r>
              <a:rPr lang="en-US" sz="1600" b="1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linear regression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regression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model that works to establish a linear relationship</a:t>
            </a:r>
          </a:p>
          <a:p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between a variable, called the explained variable, and one or more variables, called explanatory variables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.</a:t>
            </a:r>
            <a:endParaRPr lang="fr-FR" sz="16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DD78AC0-1DAD-85B0-5577-DAF217CFA118}"/>
              </a:ext>
            </a:extLst>
          </p:cNvPr>
          <p:cNvSpPr txBox="1"/>
          <p:nvPr/>
        </p:nvSpPr>
        <p:spPr>
          <a:xfrm>
            <a:off x="3776472" y="2015479"/>
            <a:ext cx="2103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(Variable </a:t>
            </a:r>
            <a:r>
              <a:rPr lang="fr-FR" sz="2000" b="0" i="0" dirty="0">
                <a:solidFill>
                  <a:srgbClr val="00B0F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expliquée)</a:t>
            </a:r>
            <a:endParaRPr lang="fr-FR" sz="2000" dirty="0">
              <a:solidFill>
                <a:srgbClr val="00B0F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F8DED2E-4432-1DE3-ED3A-607A71165A8C}"/>
              </a:ext>
            </a:extLst>
          </p:cNvPr>
          <p:cNvSpPr txBox="1"/>
          <p:nvPr/>
        </p:nvSpPr>
        <p:spPr>
          <a:xfrm>
            <a:off x="8710031" y="2025166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(Variables </a:t>
            </a:r>
            <a:r>
              <a:rPr lang="fr-FR" sz="11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explicatives</a:t>
            </a:r>
            <a:r>
              <a:rPr lang="fr-FR" sz="11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fr-FR" sz="1800" b="0" i="0" dirty="0">
                <a:solidFill>
                  <a:srgbClr val="00B0F0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fr-FR" sz="1800" dirty="0">
              <a:solidFill>
                <a:srgbClr val="00B0F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EDA823-0D50-2B92-6FCC-511B48BFD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57" y="2424269"/>
            <a:ext cx="6766661" cy="364148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870DE1-6A75-27E5-D2C1-978BCFDD05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660" y="3110006"/>
            <a:ext cx="2109506" cy="385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F0F1273-4F71-D7C5-C686-184C806CB4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722" y="3972510"/>
            <a:ext cx="1993381" cy="36933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179535C-E93A-8A99-841E-18A10AC41B8A}"/>
              </a:ext>
            </a:extLst>
          </p:cNvPr>
          <p:cNvSpPr txBox="1"/>
          <p:nvPr/>
        </p:nvSpPr>
        <p:spPr>
          <a:xfrm>
            <a:off x="9167263" y="3253996"/>
            <a:ext cx="350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00B0F0"/>
                </a:solidFill>
              </a:rPr>
              <a:t>=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058B8F9-4237-6277-5145-364C1459A1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57" y="2424269"/>
            <a:ext cx="6766661" cy="369663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EEFE09-FA8B-E4AD-9CD1-224A8D728207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2DC5DC-C4C0-702F-7585-A0D33F0869D2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732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38B4-9EF8-E9E9-DD79-B91ACC52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F10E8155-761E-E612-2405-3DA19F5578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08335FA-D2BF-7911-3E20-17AC0D787BD6}"/>
              </a:ext>
            </a:extLst>
          </p:cNvPr>
          <p:cNvSpPr txBox="1">
            <a:spLocks/>
          </p:cNvSpPr>
          <p:nvPr/>
        </p:nvSpPr>
        <p:spPr>
          <a:xfrm>
            <a:off x="4135353" y="191998"/>
            <a:ext cx="391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8" name="Étoile : 4 branches 7">
            <a:extLst>
              <a:ext uri="{FF2B5EF4-FFF2-40B4-BE49-F238E27FC236}">
                <a16:creationId xmlns:a16="http://schemas.microsoft.com/office/drawing/2014/main" id="{C4260F94-84E4-7F91-A275-2722571B6926}"/>
              </a:ext>
            </a:extLst>
          </p:cNvPr>
          <p:cNvSpPr/>
          <p:nvPr/>
        </p:nvSpPr>
        <p:spPr>
          <a:xfrm>
            <a:off x="423260" y="987552"/>
            <a:ext cx="475488" cy="400104"/>
          </a:xfrm>
          <a:prstGeom prst="star4">
            <a:avLst/>
          </a:prstGeom>
          <a:solidFill>
            <a:srgbClr val="00B0F0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B509D04-93FB-43D6-6F64-5CCF13ED6A07}"/>
              </a:ext>
            </a:extLst>
          </p:cNvPr>
          <p:cNvSpPr txBox="1"/>
          <p:nvPr/>
        </p:nvSpPr>
        <p:spPr>
          <a:xfrm>
            <a:off x="1027536" y="1330708"/>
            <a:ext cx="52105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 public health reasons, we are interested in the concentration of ozone (O₃) in the</a:t>
            </a:r>
          </a:p>
          <a:p>
            <a:r>
              <a:rPr lang="en-US" dirty="0">
                <a:solidFill>
                  <a:schemeClr val="bg1"/>
                </a:solidFill>
              </a:rPr>
              <a:t>air (in micrograms per milliliter). </a:t>
            </a:r>
          </a:p>
          <a:p>
            <a:r>
              <a:rPr lang="en-US" dirty="0">
                <a:solidFill>
                  <a:schemeClr val="bg1"/>
                </a:solidFill>
              </a:rPr>
              <a:t>In particular, we want to determine whether it is possible to explain the maximum ozone level of the day using the temperature T12 at noon. The data are as follows: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12F4854-3D0D-AEE9-F703-60DDEA3E0B3A}"/>
              </a:ext>
            </a:extLst>
          </p:cNvPr>
          <p:cNvSpPr txBox="1"/>
          <p:nvPr/>
        </p:nvSpPr>
        <p:spPr>
          <a:xfrm>
            <a:off x="898748" y="996743"/>
            <a:ext cx="4754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</a:rPr>
              <a:t>Example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D6EBC1F7-7FF6-31DD-1E39-AA29F42C3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243" y="3149571"/>
            <a:ext cx="5864418" cy="469154"/>
          </a:xfrm>
          <a:prstGeom prst="rect">
            <a:avLst/>
          </a:prstGeom>
        </p:spPr>
      </p:pic>
      <p:pic>
        <p:nvPicPr>
          <p:cNvPr id="26" name="Image 25" descr="Une image contenant capture d’écran, ligne, Rectangle, diagramme&#10;&#10;Description générée automatiquement">
            <a:extLst>
              <a:ext uri="{FF2B5EF4-FFF2-40B4-BE49-F238E27FC236}">
                <a16:creationId xmlns:a16="http://schemas.microsoft.com/office/drawing/2014/main" id="{BDA86F45-E3FB-5984-862C-AA9CD2274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907" y="3618725"/>
            <a:ext cx="6526271" cy="2930921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1223BC9D-E82A-A251-5F85-43134F107392}"/>
              </a:ext>
            </a:extLst>
          </p:cNvPr>
          <p:cNvSpPr txBox="1"/>
          <p:nvPr/>
        </p:nvSpPr>
        <p:spPr>
          <a:xfrm>
            <a:off x="696000" y="4449186"/>
            <a:ext cx="2843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Outlier :</a:t>
            </a:r>
            <a:endParaRPr lang="fr-FR" dirty="0">
              <a:solidFill>
                <a:srgbClr val="FFFF00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B892919-3815-D9DA-A12B-76108A937132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ED8E6B0-CEBD-1254-DC3B-FF3C21439CF0}"/>
              </a:ext>
            </a:extLst>
          </p:cNvPr>
          <p:cNvSpPr txBox="1"/>
          <p:nvPr/>
        </p:nvSpPr>
        <p:spPr>
          <a:xfrm>
            <a:off x="1691611" y="4458383"/>
            <a:ext cx="353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Is a data point that is far from the general pattern of the data</a:t>
            </a: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C2126F6E-5B84-269A-5701-0DE0FAE9A0A7}"/>
              </a:ext>
            </a:extLst>
          </p:cNvPr>
          <p:cNvSpPr txBox="1"/>
          <p:nvPr/>
        </p:nvSpPr>
        <p:spPr>
          <a:xfrm>
            <a:off x="661004" y="5536230"/>
            <a:ext cx="44481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FCAFF"/>
                </a:solidFill>
              </a:rPr>
              <a:t>“Linear regression is sensitive to outliers.
One extreme value can slightly change the slope of the regression line.”</a:t>
            </a:r>
            <a:endParaRPr lang="fr-FR" dirty="0">
              <a:solidFill>
                <a:srgbClr val="7FC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92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6B306-B489-3D3A-0031-33D1ECCF6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6D1E14-3581-19DC-09AF-918CFA4F8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7785B3-C916-CDF0-10CA-45E9FF33B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0769B65-994D-4790-E25D-9AF7F4BD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17A5DE22-CA76-4EA3-CF87-2955DE87D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68286" y="-4528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9912528-F9C1-C57F-EDC9-0457FC02C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4539"/>
            <a:ext cx="12188952" cy="2368866"/>
          </a:xfrm>
          <a:prstGeom prst="rect">
            <a:avLst/>
          </a:prstGeom>
          <a:gradFill>
            <a:gsLst>
              <a:gs pos="42000">
                <a:srgbClr val="000000">
                  <a:alpha val="16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28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A93342-45E9-B7A9-D546-A091BC6BC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B2CBA15-9CE1-D5A5-E8CC-6D1796E93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888006"/>
            <a:ext cx="12188952" cy="1969994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2FE0C1-6158-0600-F29B-7B2EFA6C3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F482C1AB-3E96-DB4A-2AB0-8D97646E3487}"/>
              </a:ext>
            </a:extLst>
          </p:cNvPr>
          <p:cNvSpPr txBox="1"/>
          <p:nvPr/>
        </p:nvSpPr>
        <p:spPr>
          <a:xfrm>
            <a:off x="4135353" y="153229"/>
            <a:ext cx="391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Real-life example </a:t>
            </a:r>
            <a:endParaRPr lang="fr-FR" sz="28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E67AD95-53AA-42B3-63EB-30FEA52A6BA6}"/>
              </a:ext>
            </a:extLst>
          </p:cNvPr>
          <p:cNvSpPr txBox="1"/>
          <p:nvPr/>
        </p:nvSpPr>
        <p:spPr>
          <a:xfrm>
            <a:off x="923544" y="987552"/>
            <a:ext cx="4754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23FF59C-C72C-CCFE-2E3E-192BB7E88C41}"/>
              </a:ext>
            </a:extLst>
          </p:cNvPr>
          <p:cNvSpPr txBox="1"/>
          <p:nvPr/>
        </p:nvSpPr>
        <p:spPr>
          <a:xfrm>
            <a:off x="2205387" y="1035116"/>
            <a:ext cx="861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Study of the relationship between blood pressure and an individual’s age</a:t>
            </a:r>
            <a:endParaRPr lang="fr-FR" b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A61F151-341F-8C55-59AD-6B38660BF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438" y="1590563"/>
            <a:ext cx="5353050" cy="428244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12CFF133-BF0E-4065-C7E7-512204F76DFE}"/>
              </a:ext>
            </a:extLst>
          </p:cNvPr>
          <p:cNvSpPr txBox="1"/>
          <p:nvPr/>
        </p:nvSpPr>
        <p:spPr>
          <a:xfrm>
            <a:off x="923544" y="2633756"/>
            <a:ext cx="4928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ova Light" panose="020B0304020202020204" pitchFamily="34" charset="0"/>
              </a:rPr>
              <a:t>The upward-trending shape of the scatter plot suggests a positive linear relationship between blood pressure and age.</a:t>
            </a:r>
            <a:br>
              <a:rPr lang="en-US" dirty="0">
                <a:latin typeface="Arial Nova Light" panose="020B0304020202020204" pitchFamily="34" charset="0"/>
              </a:rPr>
            </a:br>
            <a:r>
              <a:rPr lang="en-US" dirty="0">
                <a:latin typeface="Arial Nova Light" panose="020B0304020202020204" pitchFamily="34" charset="0"/>
              </a:rPr>
              <a:t>The linear correlation observed in the sample is r = 0.7868 .</a:t>
            </a:r>
            <a:endParaRPr lang="fr-FR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976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EC464-5174-CD73-91F3-B093E48C0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B0FC8B-D280-2C59-84C5-73B6DA3C9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46C074-B323-82D1-FC91-783952F58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BC4A02-23CA-7D4D-5656-55DB5C4C0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B5C67949-EE78-B872-8638-A5BC97794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5335" y="-19858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2DB905C-ABCC-8AE4-3B8D-C5DB63D0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4539"/>
            <a:ext cx="12188952" cy="2368866"/>
          </a:xfrm>
          <a:prstGeom prst="rect">
            <a:avLst/>
          </a:prstGeom>
          <a:gradFill>
            <a:gsLst>
              <a:gs pos="42000">
                <a:srgbClr val="000000">
                  <a:alpha val="16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28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B09133-48F8-239D-7050-69DA8C09D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DA66CD5-BCC9-E481-C2B8-A3EEEFA85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888006"/>
            <a:ext cx="12188952" cy="1969994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76ED4C-9C5B-8977-1F63-C30AF5156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164E118D-EEED-890B-39A1-7CCFF287BD91}"/>
              </a:ext>
            </a:extLst>
          </p:cNvPr>
          <p:cNvSpPr txBox="1"/>
          <p:nvPr/>
        </p:nvSpPr>
        <p:spPr>
          <a:xfrm>
            <a:off x="923544" y="987552"/>
            <a:ext cx="4754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E639D97-929B-C82E-C1EC-873EFAD45A50}"/>
              </a:ext>
            </a:extLst>
          </p:cNvPr>
          <p:cNvSpPr txBox="1"/>
          <p:nvPr/>
        </p:nvSpPr>
        <p:spPr>
          <a:xfrm>
            <a:off x="2205387" y="1035116"/>
            <a:ext cx="861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Study of the relationship between blood pressure and an individual’s age</a:t>
            </a:r>
            <a:endParaRPr lang="fr-FR" b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6C76C98-D61A-A438-6D61-A3830B762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22" y="1590563"/>
            <a:ext cx="5353050" cy="428244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26E364AE-4ED5-9B16-0507-286D6A4146D7}"/>
              </a:ext>
            </a:extLst>
          </p:cNvPr>
          <p:cNvSpPr txBox="1"/>
          <p:nvPr/>
        </p:nvSpPr>
        <p:spPr>
          <a:xfrm>
            <a:off x="91585" y="1520221"/>
            <a:ext cx="5648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Nova Light" panose="020B0304020202020204" pitchFamily="34" charset="0"/>
              </a:rPr>
              <a:t>The upward-trending shape of the scatter plot suggests a positive linear relationship between blood pressure and age.</a:t>
            </a:r>
            <a:br>
              <a:rPr lang="en-US" sz="1600" dirty="0">
                <a:latin typeface="Arial Nova Light" panose="020B0304020202020204" pitchFamily="34" charset="0"/>
              </a:rPr>
            </a:br>
            <a:r>
              <a:rPr lang="en-US" sz="1600" dirty="0">
                <a:latin typeface="Arial Nova Light" panose="020B0304020202020204" pitchFamily="34" charset="0"/>
              </a:rPr>
              <a:t>The linear correlation observed in the sample is </a:t>
            </a:r>
            <a:r>
              <a:rPr lang="en-US" sz="1600" dirty="0">
                <a:solidFill>
                  <a:srgbClr val="00B0F0"/>
                </a:solidFill>
                <a:latin typeface="Arial Nova Light" panose="020B0304020202020204" pitchFamily="34" charset="0"/>
              </a:rPr>
              <a:t>r</a:t>
            </a:r>
            <a:r>
              <a:rPr lang="en-US" sz="1600" dirty="0">
                <a:latin typeface="Arial Nova Light" panose="020B0304020202020204" pitchFamily="34" charset="0"/>
              </a:rPr>
              <a:t> = 0.7868 .</a:t>
            </a:r>
            <a:endParaRPr lang="fr-FR" sz="1600" dirty="0">
              <a:latin typeface="Arial Nova Light" panose="020B03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F75BB32-C0FF-2799-7662-073394BD84F2}"/>
              </a:ext>
            </a:extLst>
          </p:cNvPr>
          <p:cNvSpPr txBox="1"/>
          <p:nvPr/>
        </p:nvSpPr>
        <p:spPr>
          <a:xfrm>
            <a:off x="68306" y="2578140"/>
            <a:ext cx="56481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The Linear regression model</a:t>
            </a:r>
            <a:r>
              <a:rPr lang="en-US" sz="1600" dirty="0"/>
              <a:t>, which expresses the relationship between Y and X using a linear function. Graphically, the relationship is represented by a line with the equation</a:t>
            </a:r>
            <a:r>
              <a:rPr lang="en-US" sz="1600" dirty="0">
                <a:latin typeface="Arial Nova Light" panose="020B0304020202020204" pitchFamily="34" charset="0"/>
              </a:rPr>
              <a:t> :</a:t>
            </a:r>
            <a:endParaRPr lang="fr-FR" sz="1600" dirty="0">
              <a:latin typeface="Arial Nova Light" panose="020B03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A28EA69-2BF9-6463-14E9-6793C61A7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499" y="3404292"/>
            <a:ext cx="2029108" cy="419158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EA121D4-97F6-3458-48E4-C1739B6362B6}"/>
              </a:ext>
            </a:extLst>
          </p:cNvPr>
          <p:cNvSpPr txBox="1"/>
          <p:nvPr/>
        </p:nvSpPr>
        <p:spPr>
          <a:xfrm>
            <a:off x="121282" y="3979800"/>
            <a:ext cx="55045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The coefficient </a:t>
            </a:r>
            <a:r>
              <a:rPr lang="en-US" sz="1400" b="1" dirty="0">
                <a:solidFill>
                  <a:srgbClr val="00B0F0"/>
                </a:solidFill>
              </a:rPr>
              <a:t>b1</a:t>
            </a:r>
            <a:r>
              <a:rPr lang="en-US" sz="1400" b="1" dirty="0"/>
              <a:t>​: </a:t>
            </a:r>
            <a:r>
              <a:rPr lang="en-US" sz="1400" dirty="0"/>
              <a:t>the </a:t>
            </a:r>
            <a:r>
              <a:rPr lang="en-US" sz="1400" dirty="0">
                <a:solidFill>
                  <a:srgbClr val="FFFF00"/>
                </a:solidFill>
              </a:rPr>
              <a:t>slope</a:t>
            </a:r>
            <a:r>
              <a:rPr lang="en-US" sz="1400" dirty="0"/>
              <a:t> of the line; b1 &gt; 0 if the line is increasing, b1= 0 if the line is horizontal , and b1 &lt; 0 if the line is decreasing.</a:t>
            </a:r>
            <a:endParaRPr lang="fr-FR" sz="1400" dirty="0">
              <a:latin typeface="Arial Nova Light" panose="020B03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C7D6C01-BB18-E776-4D53-42E26CEA750F}"/>
              </a:ext>
            </a:extLst>
          </p:cNvPr>
          <p:cNvSpPr txBox="1"/>
          <p:nvPr/>
        </p:nvSpPr>
        <p:spPr>
          <a:xfrm>
            <a:off x="121282" y="4814559"/>
            <a:ext cx="6163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The coefficient </a:t>
            </a:r>
            <a:r>
              <a:rPr lang="en-US" sz="1400" b="1" dirty="0">
                <a:solidFill>
                  <a:srgbClr val="00B0F0"/>
                </a:solidFill>
              </a:rPr>
              <a:t>b0 </a:t>
            </a:r>
            <a:r>
              <a:rPr lang="en-US" sz="1400" b="1" dirty="0"/>
              <a:t>​: the </a:t>
            </a:r>
            <a:r>
              <a:rPr lang="en-US" sz="1400" b="1" dirty="0">
                <a:solidFill>
                  <a:srgbClr val="FFFF00"/>
                </a:solidFill>
              </a:rPr>
              <a:t>intercept</a:t>
            </a:r>
            <a:r>
              <a:rPr lang="en-US" sz="1400" b="1" dirty="0"/>
              <a:t> of the line. It represents the value of Y when X = 0</a:t>
            </a:r>
            <a:endParaRPr lang="fr-FR" sz="1400" dirty="0">
              <a:latin typeface="Arial Nova Light" panose="020B0304020202020204" pitchFamily="34" charset="0"/>
            </a:endParaRPr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B641DDF1-3436-F301-B35C-F6C2562624CD}"/>
              </a:ext>
            </a:extLst>
          </p:cNvPr>
          <p:cNvSpPr txBox="1"/>
          <p:nvPr/>
        </p:nvSpPr>
        <p:spPr>
          <a:xfrm>
            <a:off x="4135353" y="153229"/>
            <a:ext cx="391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Real-life example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05048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C4C60-6970-01E7-9E22-D9FC7E12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FBC0C5D0-9600-E86C-31C9-F01CE02429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0531CC3-2704-8848-C517-D5408956A247}"/>
              </a:ext>
            </a:extLst>
          </p:cNvPr>
          <p:cNvSpPr txBox="1"/>
          <p:nvPr/>
        </p:nvSpPr>
        <p:spPr>
          <a:xfrm>
            <a:off x="4882679" y="251865"/>
            <a:ext cx="2335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it works</a:t>
            </a:r>
            <a:endParaRPr lang="fr-FR" sz="2800" dirty="0"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9DDB485-EA2D-1173-3789-E64B56CBB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660" y="3110006"/>
            <a:ext cx="2109506" cy="385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76F89A2-C87B-3530-7206-56E5976B6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722" y="3972510"/>
            <a:ext cx="1993381" cy="36933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0A57965-4233-F141-41F1-BD10DE0EC6A0}"/>
              </a:ext>
            </a:extLst>
          </p:cNvPr>
          <p:cNvSpPr txBox="1"/>
          <p:nvPr/>
        </p:nvSpPr>
        <p:spPr>
          <a:xfrm>
            <a:off x="9167263" y="3253996"/>
            <a:ext cx="350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00B0F0"/>
                </a:solidFill>
              </a:rPr>
              <a:t>=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18582A-F418-2441-F260-F075F4F1A8DD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5F2E79-2615-8A07-92C7-23971FCE535B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094BE2C-5AE9-09CF-B7FB-4E46681CA741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How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does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linear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egression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work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6660B-F901-7C19-326D-122208C729A3}"/>
              </a:ext>
            </a:extLst>
          </p:cNvPr>
          <p:cNvSpPr txBox="1"/>
          <p:nvPr/>
        </p:nvSpPr>
        <p:spPr>
          <a:xfrm>
            <a:off x="1587132" y="1485765"/>
            <a:ext cx="892697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linear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regression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tries to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find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best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fitting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u="sng" dirty="0">
                <a:solidFill>
                  <a:schemeClr val="bg1"/>
                </a:solidFill>
                <a:latin typeface="Consolas" panose="020B0609020204030204" pitchFamily="49" charset="0"/>
              </a:rPr>
              <a:t>straight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line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describes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relationship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between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X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and 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Y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F1C933-4A4D-235A-4986-0A4F312790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44" y="2303398"/>
            <a:ext cx="6593881" cy="37075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9851DE-F7B0-3B36-BDDE-7B2FCC7854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36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0CF29-6940-47B4-2B5E-75975D53B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FB302A51-2119-08A0-4639-ADC9EC17C9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CB8FCBA-7DCC-F42D-36AA-3203E43F5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660" y="3110006"/>
            <a:ext cx="2109506" cy="3856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CFE7CC-5E2D-F2EE-C3DA-2AF447CBEF5B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B0AEED-F54C-8F7F-1EB0-E451087B3285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8002ED-65FB-CFA3-B23D-048DB9047C1B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How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does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linear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egression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work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0A0CE-ED52-04AE-381F-B01541C3DCB1}"/>
              </a:ext>
            </a:extLst>
          </p:cNvPr>
          <p:cNvSpPr txBox="1"/>
          <p:nvPr/>
        </p:nvSpPr>
        <p:spPr>
          <a:xfrm>
            <a:off x="1587132" y="1485765"/>
            <a:ext cx="892697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linear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regression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tries to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find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best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fitting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u="sng" dirty="0">
                <a:solidFill>
                  <a:schemeClr val="bg1"/>
                </a:solidFill>
                <a:latin typeface="Consolas" panose="020B0609020204030204" pitchFamily="49" charset="0"/>
              </a:rPr>
              <a:t>straight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line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describes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relationship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between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X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and 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Y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862F31-27CC-F2AE-8689-B52A0B2B6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44" y="2303398"/>
            <a:ext cx="6593881" cy="37075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2D09771-6E56-9530-FEE4-57F412FD87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E1110-B75F-93D1-532B-D38BABF17EEF}"/>
              </a:ext>
            </a:extLst>
          </p:cNvPr>
          <p:cNvSpPr txBox="1"/>
          <p:nvPr/>
        </p:nvSpPr>
        <p:spPr>
          <a:xfrm>
            <a:off x="7857068" y="3759200"/>
            <a:ext cx="39539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B0F0"/>
                </a:solidFill>
              </a:rPr>
              <a:t>f (x) </a:t>
            </a:r>
            <a:r>
              <a:rPr lang="fr-FR" sz="1600" dirty="0">
                <a:solidFill>
                  <a:schemeClr val="bg1"/>
                </a:solidFill>
              </a:rPr>
              <a:t>: The output variable</a:t>
            </a:r>
          </a:p>
          <a:p>
            <a:r>
              <a:rPr lang="fr-FR" sz="1600" dirty="0">
                <a:solidFill>
                  <a:srgbClr val="00B0F0"/>
                </a:solidFill>
              </a:rPr>
              <a:t>x</a:t>
            </a:r>
            <a:r>
              <a:rPr lang="fr-FR" sz="1600" dirty="0">
                <a:solidFill>
                  <a:schemeClr val="bg1"/>
                </a:solidFill>
              </a:rPr>
              <a:t>     : The input variable</a:t>
            </a:r>
          </a:p>
          <a:p>
            <a:r>
              <a:rPr lang="fr-FR" sz="1600" dirty="0">
                <a:solidFill>
                  <a:srgbClr val="00B0F0"/>
                </a:solidFill>
              </a:rPr>
              <a:t>m</a:t>
            </a:r>
            <a:r>
              <a:rPr lang="fr-FR" sz="1600" dirty="0">
                <a:solidFill>
                  <a:schemeClr val="bg1"/>
                </a:solidFill>
              </a:rPr>
              <a:t>    : The </a:t>
            </a:r>
            <a:r>
              <a:rPr lang="fr-FR" sz="1700" i="1" dirty="0" err="1">
                <a:solidFill>
                  <a:schemeClr val="bg1"/>
                </a:solidFill>
              </a:rPr>
              <a:t>slope</a:t>
            </a:r>
            <a:r>
              <a:rPr lang="fr-FR" sz="1600" dirty="0">
                <a:solidFill>
                  <a:schemeClr val="bg1"/>
                </a:solidFill>
              </a:rPr>
              <a:t> of the line , </a:t>
            </a:r>
            <a:r>
              <a:rPr lang="fr-FR" sz="1600" dirty="0" err="1">
                <a:solidFill>
                  <a:schemeClr val="bg1"/>
                </a:solidFill>
              </a:rPr>
              <a:t>it</a:t>
            </a:r>
            <a:r>
              <a:rPr lang="fr-FR" sz="1600" dirty="0">
                <a:solidFill>
                  <a:schemeClr val="bg1"/>
                </a:solidFill>
              </a:rPr>
              <a:t> shows how </a:t>
            </a:r>
            <a:r>
              <a:rPr lang="fr-FR" sz="1600" dirty="0" err="1">
                <a:solidFill>
                  <a:schemeClr val="bg1"/>
                </a:solidFill>
              </a:rPr>
              <a:t>much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>
                <a:solidFill>
                  <a:srgbClr val="FFC000"/>
                </a:solidFill>
              </a:rPr>
              <a:t>Y</a:t>
            </a:r>
            <a:r>
              <a:rPr lang="fr-FR" sz="1600" dirty="0">
                <a:solidFill>
                  <a:schemeClr val="bg1"/>
                </a:solidFill>
              </a:rPr>
              <a:t> changes </a:t>
            </a:r>
            <a:r>
              <a:rPr lang="fr-FR" sz="1600" dirty="0" err="1">
                <a:solidFill>
                  <a:schemeClr val="bg1"/>
                </a:solidFill>
              </a:rPr>
              <a:t>when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>
                <a:solidFill>
                  <a:srgbClr val="FFC000"/>
                </a:solidFill>
              </a:rPr>
              <a:t>X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increases</a:t>
            </a:r>
            <a:r>
              <a:rPr lang="fr-FR" sz="1600" dirty="0">
                <a:solidFill>
                  <a:schemeClr val="bg1"/>
                </a:solidFill>
              </a:rPr>
              <a:t> or </a:t>
            </a:r>
            <a:r>
              <a:rPr lang="fr-FR" sz="1600" dirty="0" err="1">
                <a:solidFill>
                  <a:schemeClr val="bg1"/>
                </a:solidFill>
              </a:rPr>
              <a:t>decreases</a:t>
            </a:r>
            <a:r>
              <a:rPr lang="fr-FR" sz="1600" dirty="0">
                <a:solidFill>
                  <a:schemeClr val="bg1"/>
                </a:solidFill>
              </a:rPr>
              <a:t> (</a:t>
            </a:r>
            <a:r>
              <a:rPr lang="fr-FR" sz="1600" dirty="0" err="1">
                <a:solidFill>
                  <a:schemeClr val="bg1"/>
                </a:solidFill>
              </a:rPr>
              <a:t>weight</a:t>
            </a:r>
            <a:r>
              <a:rPr lang="fr-FR" sz="1600" dirty="0">
                <a:solidFill>
                  <a:schemeClr val="bg1"/>
                </a:solidFill>
              </a:rPr>
              <a:t>)</a:t>
            </a:r>
          </a:p>
          <a:p>
            <a:r>
              <a:rPr lang="fr-FR" sz="1600" dirty="0">
                <a:solidFill>
                  <a:srgbClr val="00B0F0"/>
                </a:solidFill>
              </a:rPr>
              <a:t>B</a:t>
            </a:r>
            <a:r>
              <a:rPr lang="fr-FR" sz="1600" dirty="0">
                <a:solidFill>
                  <a:schemeClr val="bg1"/>
                </a:solidFill>
              </a:rPr>
              <a:t>    : The intercept of the line , </a:t>
            </a:r>
            <a:r>
              <a:rPr lang="fr-FR" sz="1600" dirty="0" err="1">
                <a:solidFill>
                  <a:schemeClr val="bg1"/>
                </a:solidFill>
              </a:rPr>
              <a:t>it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represents</a:t>
            </a:r>
            <a:r>
              <a:rPr lang="fr-FR" sz="1600" dirty="0">
                <a:solidFill>
                  <a:schemeClr val="bg1"/>
                </a:solidFill>
              </a:rPr>
              <a:t> the value of  </a:t>
            </a:r>
            <a:r>
              <a:rPr lang="fr-FR" sz="1600" dirty="0">
                <a:solidFill>
                  <a:srgbClr val="FFC000"/>
                </a:solidFill>
              </a:rPr>
              <a:t>Y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when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>
                <a:solidFill>
                  <a:srgbClr val="FFC000"/>
                </a:solidFill>
              </a:rPr>
              <a:t>X</a:t>
            </a:r>
            <a:r>
              <a:rPr lang="fr-FR" sz="1600" dirty="0">
                <a:solidFill>
                  <a:schemeClr val="bg1"/>
                </a:solidFill>
              </a:rPr>
              <a:t> = 0 (</a:t>
            </a:r>
            <a:r>
              <a:rPr lang="fr-FR" sz="1600" dirty="0" err="1">
                <a:solidFill>
                  <a:schemeClr val="bg1"/>
                </a:solidFill>
              </a:rPr>
              <a:t>bias</a:t>
            </a:r>
            <a:r>
              <a:rPr lang="fr-FR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ZoneTexte 5">
            <a:extLst>
              <a:ext uri="{FF2B5EF4-FFF2-40B4-BE49-F238E27FC236}">
                <a16:creationId xmlns:a16="http://schemas.microsoft.com/office/drawing/2014/main" id="{AA8AA92B-3FAA-4BFC-1BD0-F1EBB2B41A5C}"/>
              </a:ext>
            </a:extLst>
          </p:cNvPr>
          <p:cNvSpPr txBox="1"/>
          <p:nvPr/>
        </p:nvSpPr>
        <p:spPr>
          <a:xfrm>
            <a:off x="4882679" y="251865"/>
            <a:ext cx="2335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it works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95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3E8D-C19F-652B-6203-F684C0B8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AB9BE110-6259-25A2-4907-5FD079753E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BC0F2CD-B153-AA10-8B23-6AE7053583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660" y="3110006"/>
            <a:ext cx="2109506" cy="3856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0CB8F7-D837-8E77-65C2-13EBFD064A6B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BD941F-2401-A80A-2B00-A648714E02D9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75549F3-B031-23A7-31BA-B09262298D3B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How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does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linear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egression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work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30BCF-B481-BCC9-5142-15837010D2CC}"/>
              </a:ext>
            </a:extLst>
          </p:cNvPr>
          <p:cNvSpPr txBox="1"/>
          <p:nvPr/>
        </p:nvSpPr>
        <p:spPr>
          <a:xfrm>
            <a:off x="1587132" y="1485765"/>
            <a:ext cx="892697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linear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regression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tries to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find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best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fitting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u="sng" dirty="0">
                <a:solidFill>
                  <a:schemeClr val="bg1"/>
                </a:solidFill>
                <a:latin typeface="Consolas" panose="020B0609020204030204" pitchFamily="49" charset="0"/>
              </a:rPr>
              <a:t>straight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line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describes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relationship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between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X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and 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Y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2B3A0-B6C6-2DB0-835F-7D6A647093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403F4-3373-FEA5-9C37-EBFF5657F3B1}"/>
              </a:ext>
            </a:extLst>
          </p:cNvPr>
          <p:cNvSpPr txBox="1"/>
          <p:nvPr/>
        </p:nvSpPr>
        <p:spPr>
          <a:xfrm>
            <a:off x="7857068" y="3759200"/>
            <a:ext cx="39539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B0F0"/>
                </a:solidFill>
              </a:rPr>
              <a:t>f (x) </a:t>
            </a:r>
            <a:r>
              <a:rPr lang="fr-FR" sz="1600" dirty="0">
                <a:solidFill>
                  <a:schemeClr val="bg1"/>
                </a:solidFill>
              </a:rPr>
              <a:t>: The output variable</a:t>
            </a:r>
          </a:p>
          <a:p>
            <a:r>
              <a:rPr lang="fr-FR" sz="1600" dirty="0">
                <a:solidFill>
                  <a:srgbClr val="00B0F0"/>
                </a:solidFill>
              </a:rPr>
              <a:t>x</a:t>
            </a:r>
            <a:r>
              <a:rPr lang="fr-FR" sz="1600" dirty="0">
                <a:solidFill>
                  <a:schemeClr val="bg1"/>
                </a:solidFill>
              </a:rPr>
              <a:t>     : The input variable</a:t>
            </a:r>
          </a:p>
          <a:p>
            <a:r>
              <a:rPr lang="fr-FR" sz="1600" dirty="0">
                <a:solidFill>
                  <a:srgbClr val="00B0F0"/>
                </a:solidFill>
              </a:rPr>
              <a:t>m</a:t>
            </a:r>
            <a:r>
              <a:rPr lang="fr-FR" sz="1600" dirty="0">
                <a:solidFill>
                  <a:schemeClr val="bg1"/>
                </a:solidFill>
              </a:rPr>
              <a:t>    : The </a:t>
            </a:r>
            <a:r>
              <a:rPr lang="fr-FR" sz="1700" i="1" dirty="0" err="1">
                <a:solidFill>
                  <a:schemeClr val="bg1"/>
                </a:solidFill>
              </a:rPr>
              <a:t>slope</a:t>
            </a:r>
            <a:r>
              <a:rPr lang="fr-FR" sz="1600" dirty="0">
                <a:solidFill>
                  <a:schemeClr val="bg1"/>
                </a:solidFill>
              </a:rPr>
              <a:t> of the line , </a:t>
            </a:r>
            <a:r>
              <a:rPr lang="fr-FR" sz="1600" dirty="0" err="1">
                <a:solidFill>
                  <a:schemeClr val="bg1"/>
                </a:solidFill>
              </a:rPr>
              <a:t>it</a:t>
            </a:r>
            <a:r>
              <a:rPr lang="fr-FR" sz="1600" dirty="0">
                <a:solidFill>
                  <a:schemeClr val="bg1"/>
                </a:solidFill>
              </a:rPr>
              <a:t> shows how </a:t>
            </a:r>
            <a:r>
              <a:rPr lang="fr-FR" sz="1600" dirty="0" err="1">
                <a:solidFill>
                  <a:schemeClr val="bg1"/>
                </a:solidFill>
              </a:rPr>
              <a:t>much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>
                <a:solidFill>
                  <a:srgbClr val="FFC000"/>
                </a:solidFill>
              </a:rPr>
              <a:t>Y</a:t>
            </a:r>
            <a:r>
              <a:rPr lang="fr-FR" sz="1600" dirty="0">
                <a:solidFill>
                  <a:schemeClr val="bg1"/>
                </a:solidFill>
              </a:rPr>
              <a:t> changes </a:t>
            </a:r>
            <a:r>
              <a:rPr lang="fr-FR" sz="1600" dirty="0" err="1">
                <a:solidFill>
                  <a:schemeClr val="bg1"/>
                </a:solidFill>
              </a:rPr>
              <a:t>when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>
                <a:solidFill>
                  <a:srgbClr val="FFC000"/>
                </a:solidFill>
              </a:rPr>
              <a:t>X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increases</a:t>
            </a:r>
            <a:r>
              <a:rPr lang="fr-FR" sz="1600" dirty="0">
                <a:solidFill>
                  <a:schemeClr val="bg1"/>
                </a:solidFill>
              </a:rPr>
              <a:t> or </a:t>
            </a:r>
            <a:r>
              <a:rPr lang="fr-FR" sz="1600" dirty="0" err="1">
                <a:solidFill>
                  <a:schemeClr val="bg1"/>
                </a:solidFill>
              </a:rPr>
              <a:t>decreases</a:t>
            </a:r>
            <a:r>
              <a:rPr lang="fr-FR" sz="1600" dirty="0">
                <a:solidFill>
                  <a:schemeClr val="bg1"/>
                </a:solidFill>
              </a:rPr>
              <a:t> (</a:t>
            </a:r>
            <a:r>
              <a:rPr lang="fr-FR" sz="1600" dirty="0" err="1">
                <a:solidFill>
                  <a:schemeClr val="bg1"/>
                </a:solidFill>
              </a:rPr>
              <a:t>weight</a:t>
            </a:r>
            <a:r>
              <a:rPr lang="fr-FR" sz="1600" dirty="0">
                <a:solidFill>
                  <a:schemeClr val="bg1"/>
                </a:solidFill>
              </a:rPr>
              <a:t>)</a:t>
            </a:r>
          </a:p>
          <a:p>
            <a:r>
              <a:rPr lang="fr-FR" sz="1600" dirty="0">
                <a:solidFill>
                  <a:srgbClr val="00B0F0"/>
                </a:solidFill>
              </a:rPr>
              <a:t>B</a:t>
            </a:r>
            <a:r>
              <a:rPr lang="fr-FR" sz="1600" dirty="0">
                <a:solidFill>
                  <a:schemeClr val="bg1"/>
                </a:solidFill>
              </a:rPr>
              <a:t>    : The intercept of the line , </a:t>
            </a:r>
            <a:r>
              <a:rPr lang="fr-FR" sz="1600" dirty="0" err="1">
                <a:solidFill>
                  <a:schemeClr val="bg1"/>
                </a:solidFill>
              </a:rPr>
              <a:t>it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represents</a:t>
            </a:r>
            <a:r>
              <a:rPr lang="fr-FR" sz="1600" dirty="0">
                <a:solidFill>
                  <a:schemeClr val="bg1"/>
                </a:solidFill>
              </a:rPr>
              <a:t> the value of  </a:t>
            </a:r>
            <a:r>
              <a:rPr lang="fr-FR" sz="1600" dirty="0">
                <a:solidFill>
                  <a:srgbClr val="FFC000"/>
                </a:solidFill>
              </a:rPr>
              <a:t>Y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when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>
                <a:solidFill>
                  <a:srgbClr val="FFC000"/>
                </a:solidFill>
              </a:rPr>
              <a:t>X</a:t>
            </a:r>
            <a:r>
              <a:rPr lang="fr-FR" sz="1600" dirty="0">
                <a:solidFill>
                  <a:schemeClr val="bg1"/>
                </a:solidFill>
              </a:rPr>
              <a:t> = 0 (</a:t>
            </a:r>
            <a:r>
              <a:rPr lang="fr-FR" sz="1600" dirty="0" err="1">
                <a:solidFill>
                  <a:schemeClr val="bg1"/>
                </a:solidFill>
              </a:rPr>
              <a:t>bias</a:t>
            </a:r>
            <a:r>
              <a:rPr lang="fr-FR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DF06E957-C6C2-7DDD-CAFA-37D64608FC11}"/>
              </a:ext>
            </a:extLst>
          </p:cNvPr>
          <p:cNvSpPr txBox="1"/>
          <p:nvPr/>
        </p:nvSpPr>
        <p:spPr>
          <a:xfrm>
            <a:off x="4882679" y="251865"/>
            <a:ext cx="2335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it works</a:t>
            </a:r>
            <a:endParaRPr lang="fr-FR" sz="2800" dirty="0">
              <a:solidFill>
                <a:schemeClr val="bg1"/>
              </a:solidFill>
            </a:endParaRPr>
          </a:p>
        </p:txBody>
      </p:sp>
      <p:pic>
        <p:nvPicPr>
          <p:cNvPr id="11" name="video5845706014640315390">
            <a:hlinkClick r:id="" action="ppaction://media"/>
            <a:extLst>
              <a:ext uri="{FF2B5EF4-FFF2-40B4-BE49-F238E27FC236}">
                <a16:creationId xmlns:a16="http://schemas.microsoft.com/office/drawing/2014/main" id="{D6503C67-D0DA-BAC6-3E1D-9F85FC2710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60043" y="2301894"/>
            <a:ext cx="6593881" cy="370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0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4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20E6-4499-8731-CE05-4FC0C393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6AE9C426-A112-FCC1-63CF-96FC61B613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0B03E3-7142-538B-71F9-ECBF01FD7527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5AE6CB-A67F-5B35-BDB9-D8E9E16D51A8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479CD1F-7ECF-498E-A0AD-3B09BE648452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Fitting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best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C359F-63EE-6404-E515-1043117060A2}"/>
              </a:ext>
            </a:extLst>
          </p:cNvPr>
          <p:cNvSpPr txBox="1"/>
          <p:nvPr/>
        </p:nvSpPr>
        <p:spPr>
          <a:xfrm>
            <a:off x="1587132" y="1485765"/>
            <a:ext cx="892697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The model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does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not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choose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any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random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line</a:t>
            </a:r>
          </a:p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It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chooses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line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minimizes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error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between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4E052F-ADF1-7EC5-800A-7FD9ECC39C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320BB453-31B3-3A57-0899-3BEDB7DE43AE}"/>
              </a:ext>
            </a:extLst>
          </p:cNvPr>
          <p:cNvSpPr txBox="1"/>
          <p:nvPr/>
        </p:nvSpPr>
        <p:spPr>
          <a:xfrm>
            <a:off x="4882679" y="251865"/>
            <a:ext cx="2335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it works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C760B-5C98-85E7-57DD-BCCAC8E3F08C}"/>
              </a:ext>
            </a:extLst>
          </p:cNvPr>
          <p:cNvSpPr txBox="1"/>
          <p:nvPr/>
        </p:nvSpPr>
        <p:spPr>
          <a:xfrm>
            <a:off x="7742570" y="2239883"/>
            <a:ext cx="4253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C000"/>
                </a:solidFill>
              </a:rPr>
              <a:t>The real values </a:t>
            </a:r>
            <a:r>
              <a:rPr lang="fr-FR" dirty="0">
                <a:solidFill>
                  <a:schemeClr val="bg1"/>
                </a:solidFill>
              </a:rPr>
              <a:t>( </a:t>
            </a:r>
            <a:r>
              <a:rPr lang="fr-FR" dirty="0" err="1">
                <a:solidFill>
                  <a:schemeClr val="bg1"/>
                </a:solidFill>
              </a:rPr>
              <a:t>actual</a:t>
            </a:r>
            <a:r>
              <a:rPr lang="fr-FR" dirty="0">
                <a:solidFill>
                  <a:schemeClr val="bg1"/>
                </a:solidFill>
              </a:rPr>
              <a:t> data points )</a:t>
            </a:r>
          </a:p>
          <a:p>
            <a:r>
              <a:rPr lang="fr-FR" dirty="0">
                <a:solidFill>
                  <a:srgbClr val="FFC000"/>
                </a:solidFill>
              </a:rPr>
              <a:t>The </a:t>
            </a:r>
            <a:r>
              <a:rPr lang="fr-FR" dirty="0" err="1">
                <a:solidFill>
                  <a:srgbClr val="FFC000"/>
                </a:solidFill>
              </a:rPr>
              <a:t>predicted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dirty="0">
                <a:solidFill>
                  <a:schemeClr val="bg1"/>
                </a:solidFill>
              </a:rPr>
              <a:t>values ( values on the line )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The </a:t>
            </a:r>
            <a:r>
              <a:rPr lang="fr-FR" dirty="0" err="1">
                <a:solidFill>
                  <a:schemeClr val="bg1"/>
                </a:solidFill>
              </a:rPr>
              <a:t>difference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called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 err="1">
                <a:solidFill>
                  <a:schemeClr val="bg1"/>
                </a:solidFill>
              </a:rPr>
              <a:t>error</a:t>
            </a:r>
            <a:r>
              <a:rPr lang="fr-FR" dirty="0">
                <a:solidFill>
                  <a:schemeClr val="bg1"/>
                </a:solidFill>
              </a:rPr>
              <a:t> or </a:t>
            </a:r>
            <a:r>
              <a:rPr lang="fr-FR" b="1" dirty="0" err="1">
                <a:solidFill>
                  <a:schemeClr val="bg1"/>
                </a:solidFill>
              </a:rPr>
              <a:t>residual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C8B525-1788-4F7A-148E-A7B403D82B2E}"/>
              </a:ext>
            </a:extLst>
          </p:cNvPr>
          <p:cNvSpPr/>
          <p:nvPr/>
        </p:nvSpPr>
        <p:spPr>
          <a:xfrm>
            <a:off x="7302500" y="3374830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WhatsApp Video 2026-03-01 at 01.58.30">
            <a:hlinkClick r:id="" action="ppaction://media"/>
            <a:extLst>
              <a:ext uri="{FF2B5EF4-FFF2-40B4-BE49-F238E27FC236}">
                <a16:creationId xmlns:a16="http://schemas.microsoft.com/office/drawing/2014/main" id="{CA55E55A-5785-CC59-6683-A14A0471BB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044" y="2310068"/>
            <a:ext cx="6579349" cy="370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9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8841-8019-66C7-0F09-789BFD3F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B9E650EF-614D-6A88-2C73-CA3770E9AE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36E43D-72EF-FB6D-77EF-93F669E593B3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6258F5-B98D-FFD3-433D-20FB8894D090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05AFAE-E850-F527-C8C6-19C058C33564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Minimizing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</a:t>
            </a:r>
            <a:r>
              <a:rPr lang="fr-FR" sz="2000" b="1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error</a:t>
            </a:r>
            <a:endParaRPr lang="fr-FR" sz="2000" b="1" dirty="0">
              <a:solidFill>
                <a:srgbClr val="CC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72CCF2-1BD8-DAED-BC90-F5DFB8D07CC5}"/>
              </a:ext>
            </a:extLst>
          </p:cNvPr>
          <p:cNvSpPr txBox="1"/>
          <p:nvPr/>
        </p:nvSpPr>
        <p:spPr>
          <a:xfrm>
            <a:off x="1587132" y="1485765"/>
            <a:ext cx="8926971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To mesure the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error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,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use a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loss</a:t>
            </a:r>
            <a:r>
              <a:rPr lang="fr-FR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function</a:t>
            </a:r>
            <a:endParaRPr lang="fr-FR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WhatsApp Video 2026-03-01 at 01.58.31">
            <a:hlinkClick r:id="" action="ppaction://media"/>
            <a:extLst>
              <a:ext uri="{FF2B5EF4-FFF2-40B4-BE49-F238E27FC236}">
                <a16:creationId xmlns:a16="http://schemas.microsoft.com/office/drawing/2014/main" id="{AEA8A94A-67BE-E7EB-704B-1C0D9C7523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0172" y="2239883"/>
            <a:ext cx="6704124" cy="37710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C1BE73-B379-0F96-9923-51FC46803D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14D118F8-C61C-AC83-B450-D41B5E95D9E5}"/>
              </a:ext>
            </a:extLst>
          </p:cNvPr>
          <p:cNvSpPr txBox="1"/>
          <p:nvPr/>
        </p:nvSpPr>
        <p:spPr>
          <a:xfrm>
            <a:off x="4882679" y="251865"/>
            <a:ext cx="2335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it works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7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AAB7D-D8EE-A6D4-01C5-0F5C2DC9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579300BF-FE11-C2A9-E353-BC81A4A2C5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1D93FF-742A-80E7-7D7F-884E1CB54358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641824-E6DC-E0AF-6985-BC947D9622EF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469B071-7987-F2CF-46B6-5DDE0976DC10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Minimizing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</a:t>
            </a:r>
            <a:r>
              <a:rPr lang="fr-FR" sz="2000" b="1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error</a:t>
            </a:r>
            <a:endParaRPr lang="fr-FR" sz="2000" b="1" dirty="0">
              <a:solidFill>
                <a:srgbClr val="CC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59DC6-1929-C1A9-3258-E79093D7B2FF}"/>
              </a:ext>
            </a:extLst>
          </p:cNvPr>
          <p:cNvSpPr txBox="1"/>
          <p:nvPr/>
        </p:nvSpPr>
        <p:spPr>
          <a:xfrm>
            <a:off x="1587132" y="1485765"/>
            <a:ext cx="8926971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To mesure the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error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,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use a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loss</a:t>
            </a:r>
            <a:r>
              <a:rPr lang="fr-FR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function</a:t>
            </a:r>
            <a:endParaRPr lang="fr-FR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WhatsApp Video 2026-03-01 at 01.59.14">
            <a:hlinkClick r:id="" action="ppaction://media"/>
            <a:extLst>
              <a:ext uri="{FF2B5EF4-FFF2-40B4-BE49-F238E27FC236}">
                <a16:creationId xmlns:a16="http://schemas.microsoft.com/office/drawing/2014/main" id="{E3039A51-04E0-978E-D448-4337BBA5C99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0172" y="2189255"/>
            <a:ext cx="6704123" cy="379478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52C6C9A-F449-A6A4-412A-166A66FF9C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66CD5830-EEAC-B68B-300C-E610FE241D73}"/>
              </a:ext>
            </a:extLst>
          </p:cNvPr>
          <p:cNvSpPr txBox="1"/>
          <p:nvPr/>
        </p:nvSpPr>
        <p:spPr>
          <a:xfrm>
            <a:off x="4882679" y="251865"/>
            <a:ext cx="2335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it works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E72BCB-4E44-861D-C8BD-2477304AB5E0}"/>
              </a:ext>
            </a:extLst>
          </p:cNvPr>
          <p:cNvSpPr txBox="1"/>
          <p:nvPr/>
        </p:nvSpPr>
        <p:spPr>
          <a:xfrm>
            <a:off x="8065971" y="2358189"/>
            <a:ext cx="302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The </a:t>
            </a: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larger</a:t>
            </a:r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the </a:t>
            </a:r>
            <a:r>
              <a:rPr lang="fr-FR" dirty="0" err="1">
                <a:solidFill>
                  <a:srgbClr val="FFC000"/>
                </a:solidFill>
                <a:latin typeface="Abadi" panose="020F0502020204030204" pitchFamily="34" charset="0"/>
              </a:rPr>
              <a:t>errors</a:t>
            </a:r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are</a:t>
            </a:r>
          </a:p>
          <a:p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The more </a:t>
            </a: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amplified</a:t>
            </a:r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the </a:t>
            </a:r>
            <a:r>
              <a:rPr lang="fr-FR" dirty="0">
                <a:solidFill>
                  <a:srgbClr val="FFC000"/>
                </a:solidFill>
                <a:latin typeface="Abadi" panose="020F0502020204030204" pitchFamily="34" charset="0"/>
              </a:rPr>
              <a:t>area</a:t>
            </a:r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of squares are</a:t>
            </a:r>
          </a:p>
        </p:txBody>
      </p:sp>
    </p:spTree>
    <p:extLst>
      <p:ext uri="{BB962C8B-B14F-4D97-AF65-F5344CB8AC3E}">
        <p14:creationId xmlns:p14="http://schemas.microsoft.com/office/powerpoint/2010/main" val="221481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8984-79F7-27D0-ED43-61A17FC5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14D75974-698C-7364-2240-D022C06824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F3C9BD-AFF7-127D-9FEA-21B72AFDEFBF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BAE515-53AF-E4A9-02C8-397326BEC2FF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D4FB30-C40B-C368-421E-B83BA08430CB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Minimizing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</a:t>
            </a:r>
            <a:r>
              <a:rPr lang="fr-FR" sz="2000" b="1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error</a:t>
            </a:r>
            <a:endParaRPr lang="fr-FR" sz="2000" b="1" dirty="0">
              <a:solidFill>
                <a:srgbClr val="CC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268A4-0149-3054-6FC9-97FFC0FDF4E5}"/>
              </a:ext>
            </a:extLst>
          </p:cNvPr>
          <p:cNvSpPr txBox="1"/>
          <p:nvPr/>
        </p:nvSpPr>
        <p:spPr>
          <a:xfrm>
            <a:off x="1587132" y="1485765"/>
            <a:ext cx="8926971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To mesure the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error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,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use a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loss</a:t>
            </a:r>
            <a:r>
              <a:rPr lang="fr-FR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function</a:t>
            </a:r>
            <a:endParaRPr lang="fr-FR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4CAD341D-DDD8-01F2-7148-AFB5309A156E}"/>
              </a:ext>
            </a:extLst>
          </p:cNvPr>
          <p:cNvSpPr txBox="1"/>
          <p:nvPr/>
        </p:nvSpPr>
        <p:spPr>
          <a:xfrm>
            <a:off x="4882679" y="251865"/>
            <a:ext cx="2335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it works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E84A33-3205-9756-2A7A-11FA9EFB3FA6}"/>
              </a:ext>
            </a:extLst>
          </p:cNvPr>
          <p:cNvSpPr txBox="1"/>
          <p:nvPr/>
        </p:nvSpPr>
        <p:spPr>
          <a:xfrm>
            <a:off x="8171848" y="2964579"/>
            <a:ext cx="3022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C000"/>
                </a:solidFill>
                <a:latin typeface="Abadi" panose="020F0502020204030204" pitchFamily="34" charset="0"/>
              </a:rPr>
              <a:t>MSE :</a:t>
            </a:r>
          </a:p>
          <a:p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- The </a:t>
            </a: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difference</a:t>
            </a:r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between</a:t>
            </a:r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real and </a:t>
            </a: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predicted</a:t>
            </a:r>
            <a:endParaRPr lang="fr-FR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- Squares </a:t>
            </a: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them</a:t>
            </a:r>
            <a:endParaRPr lang="fr-FR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Takes</a:t>
            </a:r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the </a:t>
            </a: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average</a:t>
            </a:r>
            <a:endParaRPr lang="fr-FR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   ( </a:t>
            </a:r>
            <a:r>
              <a:rPr lang="fr-FR" dirty="0" err="1">
                <a:solidFill>
                  <a:schemeClr val="bg1"/>
                </a:solidFill>
                <a:latin typeface="Abadi" panose="020F0502020204030204" pitchFamily="34" charset="0"/>
              </a:rPr>
              <a:t>mean</a:t>
            </a:r>
            <a:r>
              <a:rPr lang="fr-FR" dirty="0">
                <a:solidFill>
                  <a:schemeClr val="bg1"/>
                </a:solidFill>
                <a:latin typeface="Abadi" panose="020F0502020204030204" pitchFamily="34" charset="0"/>
              </a:rPr>
              <a:t>  (SSE) )</a:t>
            </a:r>
          </a:p>
        </p:txBody>
      </p:sp>
      <p:pic>
        <p:nvPicPr>
          <p:cNvPr id="2" name="video5845706014640315378">
            <a:hlinkClick r:id="" action="ppaction://media"/>
            <a:extLst>
              <a:ext uri="{FF2B5EF4-FFF2-40B4-BE49-F238E27FC236}">
                <a16:creationId xmlns:a16="http://schemas.microsoft.com/office/drawing/2014/main" id="{FAC71BAD-C37B-973E-C677-5CA65EF9BCF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0172" y="2245014"/>
            <a:ext cx="6647159" cy="373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9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69ED-83CF-35DF-56DB-E9436445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E6299449-D866-1765-6190-89255D83FA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342010B-A064-8F95-EFC0-A7A610E6A1C7}"/>
              </a:ext>
            </a:extLst>
          </p:cNvPr>
          <p:cNvSpPr txBox="1"/>
          <p:nvPr/>
        </p:nvSpPr>
        <p:spPr>
          <a:xfrm>
            <a:off x="5239550" y="212135"/>
            <a:ext cx="169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validation</a:t>
            </a: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F236EB-1842-623E-5EB3-7FC886E80686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7DC659-0609-6532-3062-24EC912D381A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83A820-227B-B365-A2FA-E10259B39298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Split the data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B49D8F-56F5-040F-6D28-979B48FFC148}"/>
              </a:ext>
            </a:extLst>
          </p:cNvPr>
          <p:cNvSpPr txBox="1"/>
          <p:nvPr/>
        </p:nvSpPr>
        <p:spPr>
          <a:xfrm>
            <a:off x="1587132" y="1485765"/>
            <a:ext cx="892697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don’t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train the model on all the data.</a:t>
            </a:r>
          </a:p>
          <a:p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devide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dataset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into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fr-FR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testing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set 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trainig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set </a:t>
            </a:r>
          </a:p>
        </p:txBody>
      </p:sp>
      <p:pic>
        <p:nvPicPr>
          <p:cNvPr id="3" name="WhatsApp Video 2026-03-01 at 01.59.16">
            <a:hlinkClick r:id="" action="ppaction://media"/>
            <a:extLst>
              <a:ext uri="{FF2B5EF4-FFF2-40B4-BE49-F238E27FC236}">
                <a16:creationId xmlns:a16="http://schemas.microsoft.com/office/drawing/2014/main" id="{6717B0DF-3623-972A-64A6-9D6FEA743F7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0172" y="2251921"/>
            <a:ext cx="6683752" cy="375961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003FD7D-6146-0F3F-2922-160D8D1331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24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19454-5CC1-5E89-FB86-1B034566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E0F87C54-C17B-00DC-22C8-4E36F5700C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1D63644-3FF9-59ED-149B-315CCE8DFB2B}"/>
              </a:ext>
            </a:extLst>
          </p:cNvPr>
          <p:cNvSpPr txBox="1"/>
          <p:nvPr/>
        </p:nvSpPr>
        <p:spPr>
          <a:xfrm>
            <a:off x="5239550" y="212135"/>
            <a:ext cx="169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validation</a:t>
            </a: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73EC68-5989-C961-47DE-13FA2C507D8E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53001D-D184-AB61-2516-C2BDD581472E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004D7D-3EC1-9B87-2694-BD8F1CCF395B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Split the data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2A3A9-63F4-33AB-696F-6656BE7CA9CA}"/>
              </a:ext>
            </a:extLst>
          </p:cNvPr>
          <p:cNvSpPr txBox="1"/>
          <p:nvPr/>
        </p:nvSpPr>
        <p:spPr>
          <a:xfrm>
            <a:off x="1587132" y="1485765"/>
            <a:ext cx="892697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don’t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train the model on all the data.</a:t>
            </a:r>
          </a:p>
          <a:p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devide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dataset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into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fr-FR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testing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set 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trainig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set </a:t>
            </a:r>
          </a:p>
        </p:txBody>
      </p:sp>
      <p:pic>
        <p:nvPicPr>
          <p:cNvPr id="2" name="WhatsApp Video 2026-03-01 at 01.59.17">
            <a:hlinkClick r:id="" action="ppaction://media"/>
            <a:extLst>
              <a:ext uri="{FF2B5EF4-FFF2-40B4-BE49-F238E27FC236}">
                <a16:creationId xmlns:a16="http://schemas.microsoft.com/office/drawing/2014/main" id="{EB581E20-6691-5BB3-9D10-B0145A59C3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0170" y="2228277"/>
            <a:ext cx="6683751" cy="37832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53CFC53-4DD3-26D7-4A4A-72949D0986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43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8BA68-7E1F-E771-78BF-BC470D19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B89E6ED3-2A32-6ABF-3487-6204AFB63A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03F18B9-D999-D919-C657-509EE61FA7C5}"/>
              </a:ext>
            </a:extLst>
          </p:cNvPr>
          <p:cNvSpPr txBox="1"/>
          <p:nvPr/>
        </p:nvSpPr>
        <p:spPr>
          <a:xfrm>
            <a:off x="5239550" y="212135"/>
            <a:ext cx="169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validation</a:t>
            </a: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CCE88-6681-25C3-4B20-691E5FAA6C62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59D7B7-D8FF-A34E-38D5-9B23A813E0A1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F1A5D8-7B7D-3664-E25D-35AE366A7924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Split the data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B760A-8622-98F8-794E-7FCB8917FF27}"/>
              </a:ext>
            </a:extLst>
          </p:cNvPr>
          <p:cNvSpPr txBox="1"/>
          <p:nvPr/>
        </p:nvSpPr>
        <p:spPr>
          <a:xfrm>
            <a:off x="1587132" y="1485765"/>
            <a:ext cx="892697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don’t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train the model on all the data.</a:t>
            </a:r>
          </a:p>
          <a:p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devide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dataset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into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fr-FR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testing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set 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trainig</a:t>
            </a:r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 set </a:t>
            </a:r>
          </a:p>
        </p:txBody>
      </p:sp>
      <p:pic>
        <p:nvPicPr>
          <p:cNvPr id="2" name="WhatsApp Video 2026-03-01 at 01.59.17">
            <a:hlinkClick r:id="" action="ppaction://media"/>
            <a:extLst>
              <a:ext uri="{FF2B5EF4-FFF2-40B4-BE49-F238E27FC236}">
                <a16:creationId xmlns:a16="http://schemas.microsoft.com/office/drawing/2014/main" id="{138A846C-26B7-F375-7150-E183E70DB69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70170" y="2228277"/>
            <a:ext cx="6683751" cy="37832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48FC770-2958-4353-96B8-1C075EFF10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WhatsApp Video 2026-03-01 at 01.59.18">
            <a:hlinkClick r:id="" action="ppaction://media"/>
            <a:extLst>
              <a:ext uri="{FF2B5EF4-FFF2-40B4-BE49-F238E27FC236}">
                <a16:creationId xmlns:a16="http://schemas.microsoft.com/office/drawing/2014/main" id="{2C5A6DC4-715A-DD61-7715-1033F2821CC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70166" y="2228277"/>
            <a:ext cx="6683751" cy="378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4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116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D405-1AF8-AFAF-3468-A325204B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249A4C64-B6AC-2D4D-966B-36E97319BF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55DA18C-3F5E-15F0-BB2E-3E7D4A26EE44}"/>
              </a:ext>
            </a:extLst>
          </p:cNvPr>
          <p:cNvSpPr txBox="1"/>
          <p:nvPr/>
        </p:nvSpPr>
        <p:spPr>
          <a:xfrm>
            <a:off x="5239550" y="212135"/>
            <a:ext cx="169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validation</a:t>
            </a: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A89336-7E3A-520E-9055-127531616ACC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CAD898-E4B1-53E4-FA89-2C8820416341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60A91E4-05C2-CB0B-E372-6D84857EDB8C}"/>
              </a:ext>
            </a:extLst>
          </p:cNvPr>
          <p:cNvSpPr txBox="1"/>
          <p:nvPr/>
        </p:nvSpPr>
        <p:spPr>
          <a:xfrm>
            <a:off x="870161" y="952018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Split the data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A7F3B-DEF3-410E-78DC-44172767B6E7}"/>
              </a:ext>
            </a:extLst>
          </p:cNvPr>
          <p:cNvSpPr txBox="1"/>
          <p:nvPr/>
        </p:nvSpPr>
        <p:spPr>
          <a:xfrm>
            <a:off x="1392909" y="1286821"/>
            <a:ext cx="9520422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The </a:t>
            </a:r>
            <a:r>
              <a:rPr lang="fr-FR" sz="2000" dirty="0">
                <a:solidFill>
                  <a:srgbClr val="00B0F0"/>
                </a:solidFill>
                <a:latin typeface="Consolas" panose="020B0609020204030204" pitchFamily="49" charset="0"/>
              </a:rPr>
              <a:t>training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dataset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then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will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used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to fit the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regression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line</a:t>
            </a:r>
            <a:endParaRPr lang="fr-FR" sz="2000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WhatsApp Video 2026-03-01 at 01.59.17">
            <a:hlinkClick r:id="" action="ppaction://media"/>
            <a:extLst>
              <a:ext uri="{FF2B5EF4-FFF2-40B4-BE49-F238E27FC236}">
                <a16:creationId xmlns:a16="http://schemas.microsoft.com/office/drawing/2014/main" id="{902956A5-EB02-5919-8556-D88D04246F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70170" y="2228277"/>
            <a:ext cx="6683751" cy="3783255"/>
          </a:xfrm>
          <a:prstGeom prst="rect">
            <a:avLst/>
          </a:prstGeom>
        </p:spPr>
      </p:pic>
      <p:pic>
        <p:nvPicPr>
          <p:cNvPr id="8" name="WhatsApp Video 2026-03-01 at 01.59.19">
            <a:hlinkClick r:id="" action="ppaction://media"/>
            <a:extLst>
              <a:ext uri="{FF2B5EF4-FFF2-40B4-BE49-F238E27FC236}">
                <a16:creationId xmlns:a16="http://schemas.microsoft.com/office/drawing/2014/main" id="{8EA205B4-61A0-E420-AC74-700D2C2D4D2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70161" y="2239883"/>
            <a:ext cx="6663247" cy="377164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2D3EA11-5767-2445-5358-CB290D536A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2500" y="3253996"/>
            <a:ext cx="251425" cy="832653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61BB43-C346-22AB-F147-1BA517B35AD8}"/>
              </a:ext>
            </a:extLst>
          </p:cNvPr>
          <p:cNvSpPr txBox="1"/>
          <p:nvPr/>
        </p:nvSpPr>
        <p:spPr>
          <a:xfrm>
            <a:off x="1392909" y="1563527"/>
            <a:ext cx="10330662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The </a:t>
            </a:r>
            <a:r>
              <a:rPr lang="fr-FR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testing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dataset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then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will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be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used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to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validate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its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performance on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unseen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data.</a:t>
            </a:r>
            <a:endParaRPr lang="fr-FR" sz="2000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08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83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6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2155-5723-3D9A-3DF8-B05FA506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EAC66BB4-275A-317C-F983-71F2E4404F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8955048-B891-E96D-A2B7-AFAE68ADACFD}"/>
              </a:ext>
            </a:extLst>
          </p:cNvPr>
          <p:cNvSpPr txBox="1"/>
          <p:nvPr/>
        </p:nvSpPr>
        <p:spPr>
          <a:xfrm>
            <a:off x="5239550" y="212135"/>
            <a:ext cx="169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validation</a:t>
            </a: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22FE1B-0190-D0A4-1874-FFEEC83BD6EF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7197AB-A28A-B6E6-B154-A69B462442BA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176F689-1EC7-F681-CFAE-82E789A512FA}"/>
              </a:ext>
            </a:extLst>
          </p:cNvPr>
          <p:cNvSpPr txBox="1"/>
          <p:nvPr/>
        </p:nvSpPr>
        <p:spPr>
          <a:xfrm>
            <a:off x="870172" y="1039423"/>
            <a:ext cx="892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Evaluate</a:t>
            </a:r>
            <a:r>
              <a:rPr lang="fr-FR" sz="20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C91D3F-5534-8318-66D3-547BDAEE6871}"/>
              </a:ext>
            </a:extLst>
          </p:cNvPr>
          <p:cNvSpPr txBox="1"/>
          <p:nvPr/>
        </p:nvSpPr>
        <p:spPr>
          <a:xfrm>
            <a:off x="1587132" y="1485765"/>
            <a:ext cx="8926971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To mesure how good the model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,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we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use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evaliation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matrics</a:t>
            </a:r>
            <a:endParaRPr lang="fr-FR" sz="2000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189CA-CD5F-F430-E7C0-A6C94FD053B4}"/>
              </a:ext>
            </a:extLst>
          </p:cNvPr>
          <p:cNvSpPr txBox="1"/>
          <p:nvPr/>
        </p:nvSpPr>
        <p:spPr>
          <a:xfrm>
            <a:off x="1587132" y="2454442"/>
            <a:ext cx="84520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C000"/>
                </a:solidFill>
              </a:rPr>
              <a:t>Mean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dirty="0" err="1">
                <a:solidFill>
                  <a:srgbClr val="FFC000"/>
                </a:solidFill>
              </a:rPr>
              <a:t>squared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dirty="0" err="1">
                <a:solidFill>
                  <a:srgbClr val="FFC000"/>
                </a:solidFill>
              </a:rPr>
              <a:t>error</a:t>
            </a:r>
            <a:r>
              <a:rPr lang="fr-FR" dirty="0">
                <a:solidFill>
                  <a:srgbClr val="FFC000"/>
                </a:solidFill>
              </a:rPr>
              <a:t> (MSE)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 err="1">
                <a:solidFill>
                  <a:schemeClr val="bg1"/>
                </a:solidFill>
              </a:rPr>
              <a:t>Measure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avg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squared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error</a:t>
            </a:r>
            <a:r>
              <a:rPr lang="fr-FR" dirty="0">
                <a:solidFill>
                  <a:schemeClr val="bg1"/>
                </a:solidFill>
              </a:rPr>
              <a:t> , </a:t>
            </a:r>
            <a:r>
              <a:rPr lang="fr-FR" dirty="0" err="1">
                <a:solidFill>
                  <a:schemeClr val="bg1"/>
                </a:solidFill>
              </a:rPr>
              <a:t>smaller</a:t>
            </a:r>
            <a:r>
              <a:rPr lang="fr-FR" dirty="0">
                <a:solidFill>
                  <a:schemeClr val="bg1"/>
                </a:solidFill>
              </a:rPr>
              <a:t> MSE </a:t>
            </a:r>
            <a:r>
              <a:rPr lang="fr-FR" dirty="0" err="1">
                <a:solidFill>
                  <a:schemeClr val="bg1"/>
                </a:solidFill>
              </a:rPr>
              <a:t>means</a:t>
            </a:r>
            <a:r>
              <a:rPr lang="fr-FR" dirty="0">
                <a:solidFill>
                  <a:schemeClr val="bg1"/>
                </a:solidFill>
              </a:rPr>
              <a:t> a </a:t>
            </a:r>
            <a:r>
              <a:rPr lang="fr-FR" dirty="0" err="1">
                <a:solidFill>
                  <a:schemeClr val="bg1"/>
                </a:solidFill>
              </a:rPr>
              <a:t>better</a:t>
            </a:r>
            <a:r>
              <a:rPr lang="fr-FR" dirty="0">
                <a:solidFill>
                  <a:schemeClr val="bg1"/>
                </a:solidFill>
              </a:rPr>
              <a:t> model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rgbClr val="FFC000"/>
                </a:solidFill>
              </a:rPr>
              <a:t>Root </a:t>
            </a:r>
            <a:r>
              <a:rPr lang="fr-FR" dirty="0" err="1">
                <a:solidFill>
                  <a:srgbClr val="FFC000"/>
                </a:solidFill>
              </a:rPr>
              <a:t>Mean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dirty="0" err="1">
                <a:solidFill>
                  <a:srgbClr val="FFC000"/>
                </a:solidFill>
              </a:rPr>
              <a:t>Squared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dirty="0" err="1">
                <a:solidFill>
                  <a:srgbClr val="FFC000"/>
                </a:solidFill>
              </a:rPr>
              <a:t>Error</a:t>
            </a:r>
            <a:r>
              <a:rPr lang="fr-FR" dirty="0">
                <a:solidFill>
                  <a:srgbClr val="FFC000"/>
                </a:solidFill>
              </a:rPr>
              <a:t> (RMSE)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rgbClr val="FFC000"/>
                </a:solidFill>
              </a:rPr>
              <a:t>R² (R-</a:t>
            </a:r>
            <a:r>
              <a:rPr lang="fr-FR" dirty="0" err="1">
                <a:solidFill>
                  <a:srgbClr val="FFC000"/>
                </a:solidFill>
              </a:rPr>
              <a:t>squared</a:t>
            </a:r>
            <a:r>
              <a:rPr lang="fr-FR" dirty="0">
                <a:solidFill>
                  <a:srgbClr val="FFC000"/>
                </a:solidFill>
              </a:rPr>
              <a:t>)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Mesures how </a:t>
            </a:r>
            <a:r>
              <a:rPr lang="fr-FR" dirty="0" err="1">
                <a:solidFill>
                  <a:schemeClr val="bg1"/>
                </a:solidFill>
              </a:rPr>
              <a:t>mutch</a:t>
            </a:r>
            <a:r>
              <a:rPr lang="fr-FR" dirty="0">
                <a:solidFill>
                  <a:schemeClr val="bg1"/>
                </a:solidFill>
              </a:rPr>
              <a:t> of the variation in Y </a:t>
            </a:r>
            <a:r>
              <a:rPr lang="fr-FR" dirty="0" err="1">
                <a:solidFill>
                  <a:schemeClr val="bg1"/>
                </a:solidFill>
              </a:rPr>
              <a:t>is</a:t>
            </a:r>
            <a:r>
              <a:rPr lang="fr-FR" dirty="0">
                <a:solidFill>
                  <a:schemeClr val="bg1"/>
                </a:solidFill>
              </a:rPr>
              <a:t>  </a:t>
            </a:r>
            <a:r>
              <a:rPr lang="fr-FR" dirty="0" err="1">
                <a:solidFill>
                  <a:schemeClr val="bg1"/>
                </a:solidFill>
              </a:rPr>
              <a:t>explained</a:t>
            </a:r>
            <a:r>
              <a:rPr lang="fr-FR" dirty="0">
                <a:solidFill>
                  <a:schemeClr val="bg1"/>
                </a:solidFill>
              </a:rPr>
              <a:t> by X , </a:t>
            </a:r>
            <a:r>
              <a:rPr lang="fr-FR" dirty="0" err="1">
                <a:solidFill>
                  <a:schemeClr val="bg1"/>
                </a:solidFill>
              </a:rPr>
              <a:t>between</a:t>
            </a:r>
            <a:r>
              <a:rPr lang="fr-FR" dirty="0">
                <a:solidFill>
                  <a:schemeClr val="bg1"/>
                </a:solidFill>
              </a:rPr>
              <a:t> 0 and 1</a:t>
            </a:r>
          </a:p>
        </p:txBody>
      </p:sp>
    </p:spTree>
    <p:extLst>
      <p:ext uri="{BB962C8B-B14F-4D97-AF65-F5344CB8AC3E}">
        <p14:creationId xmlns:p14="http://schemas.microsoft.com/office/powerpoint/2010/main" val="1797285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1937-0BE7-0C64-E9BA-C5B1D5CD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bleu, Bleu électrique, Bleu Majorelle, flou&#10;&#10;Description générée automatiquement">
            <a:extLst>
              <a:ext uri="{FF2B5EF4-FFF2-40B4-BE49-F238E27FC236}">
                <a16:creationId xmlns:a16="http://schemas.microsoft.com/office/drawing/2014/main" id="{69E3E7B0-755C-48ED-DA64-EC2620A6E0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1" b="1280"/>
          <a:stretch>
            <a:fillRect/>
          </a:stretch>
        </p:blipFill>
        <p:spPr>
          <a:xfrm>
            <a:off x="-7662" y="-4528"/>
            <a:ext cx="12191980" cy="68579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7B65AF1-65D8-B416-0B5B-CFDECCAF09F2}"/>
              </a:ext>
            </a:extLst>
          </p:cNvPr>
          <p:cNvSpPr txBox="1"/>
          <p:nvPr/>
        </p:nvSpPr>
        <p:spPr>
          <a:xfrm>
            <a:off x="5113067" y="209246"/>
            <a:ext cx="195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Conclusion</a:t>
            </a: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D68FBA-E5CC-7DE6-DB4D-29CA5AD46BE2}"/>
              </a:ext>
            </a:extLst>
          </p:cNvPr>
          <p:cNvCxnSpPr/>
          <p:nvPr/>
        </p:nvCxnSpPr>
        <p:spPr>
          <a:xfrm flipV="1">
            <a:off x="696000" y="740618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779204-0D62-716C-7E78-62DAE165BE01}"/>
              </a:ext>
            </a:extLst>
          </p:cNvPr>
          <p:cNvCxnSpPr/>
          <p:nvPr/>
        </p:nvCxnSpPr>
        <p:spPr>
          <a:xfrm flipV="1">
            <a:off x="696000" y="6142781"/>
            <a:ext cx="1080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D81362-5380-7D03-0E43-19C0189C659E}"/>
              </a:ext>
            </a:extLst>
          </p:cNvPr>
          <p:cNvSpPr txBox="1"/>
          <p:nvPr/>
        </p:nvSpPr>
        <p:spPr>
          <a:xfrm>
            <a:off x="870173" y="1039423"/>
            <a:ext cx="102951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Linear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regression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is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a simple and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powerful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supervised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ML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alghorithm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used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to model the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realationship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between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X and Y</a:t>
            </a:r>
          </a:p>
          <a:p>
            <a:endParaRPr lang="fr-FR" sz="3200" dirty="0">
              <a:solidFill>
                <a:srgbClr val="CCFFFF"/>
              </a:solidFill>
              <a:latin typeface="Bahnschrift SemiBold" panose="020B0502040204020203" pitchFamily="34" charset="0"/>
            </a:endParaRPr>
          </a:p>
          <a:p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It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works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by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finding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best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fitting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straight line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using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the </a:t>
            </a:r>
            <a:r>
              <a:rPr lang="fr-FR" sz="3200" dirty="0" err="1">
                <a:solidFill>
                  <a:srgbClr val="CCFFFF"/>
                </a:solidFill>
                <a:latin typeface="Bahnschrift SemiBold" panose="020B0502040204020203" pitchFamily="34" charset="0"/>
              </a:rPr>
              <a:t>equation</a:t>
            </a:r>
            <a:r>
              <a:rPr lang="fr-FR" sz="3200" dirty="0">
                <a:solidFill>
                  <a:srgbClr val="CCFFFF"/>
                </a:solidFill>
                <a:latin typeface="Bahnschrift SemiBold" panose="020B0502040204020203" pitchFamily="34" charset="0"/>
              </a:rPr>
              <a:t>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ADD939-9372-8B39-3928-401A3A099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841" y="4060392"/>
            <a:ext cx="3506309" cy="64964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6EC5BD6-5CEA-3075-270E-78F8C17867B4}"/>
              </a:ext>
            </a:extLst>
          </p:cNvPr>
          <p:cNvSpPr txBox="1"/>
          <p:nvPr/>
        </p:nvSpPr>
        <p:spPr>
          <a:xfrm>
            <a:off x="2167128" y="5093208"/>
            <a:ext cx="837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Sources :</a:t>
            </a:r>
          </a:p>
          <a:p>
            <a:r>
              <a:rPr lang="fr-FR" dirty="0">
                <a:solidFill>
                  <a:schemeClr val="bg1"/>
                </a:solidFill>
              </a:rPr>
              <a:t>An Introduction to </a:t>
            </a:r>
            <a:r>
              <a:rPr lang="fr-FR" dirty="0" err="1">
                <a:solidFill>
                  <a:schemeClr val="bg1"/>
                </a:solidFill>
              </a:rPr>
              <a:t>statistical</a:t>
            </a:r>
            <a:r>
              <a:rPr lang="fr-FR" dirty="0">
                <a:solidFill>
                  <a:schemeClr val="bg1"/>
                </a:solidFill>
              </a:rPr>
              <a:t> Learning (book) , </a:t>
            </a:r>
            <a:r>
              <a:rPr lang="fr-FR" dirty="0" err="1">
                <a:solidFill>
                  <a:schemeClr val="bg1"/>
                </a:solidFill>
              </a:rPr>
              <a:t>chapter</a:t>
            </a:r>
            <a:r>
              <a:rPr lang="fr-FR" dirty="0">
                <a:solidFill>
                  <a:schemeClr val="bg1"/>
                </a:solidFill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386060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913</Words>
  <Application>Microsoft Office PowerPoint</Application>
  <PresentationFormat>Grand écran</PresentationFormat>
  <Paragraphs>112</Paragraphs>
  <Slides>18</Slides>
  <Notes>0</Notes>
  <HiddenSlides>0</HiddenSlides>
  <MMClips>11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8" baseType="lpstr">
      <vt:lpstr>Abadi</vt:lpstr>
      <vt:lpstr>Angsana New</vt:lpstr>
      <vt:lpstr>Arial</vt:lpstr>
      <vt:lpstr>Arial Nova Light</vt:lpstr>
      <vt:lpstr>Bahnschrift SemiBold</vt:lpstr>
      <vt:lpstr>Berlin Sans FB</vt:lpstr>
      <vt:lpstr>Calisto MT</vt:lpstr>
      <vt:lpstr>Consolas</vt:lpstr>
      <vt:lpstr>Univers Condensed</vt:lpstr>
      <vt:lpstr>ChronicleVTI</vt:lpstr>
      <vt:lpstr>Linear Regression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2007101400174@cmccasasettat.ma</dc:creator>
  <cp:lastModifiedBy>2007101400174@CMCCASASETTAT</cp:lastModifiedBy>
  <cp:revision>8</cp:revision>
  <dcterms:created xsi:type="dcterms:W3CDTF">2026-02-25T10:52:15Z</dcterms:created>
  <dcterms:modified xsi:type="dcterms:W3CDTF">2026-03-02T10:41:49Z</dcterms:modified>
</cp:coreProperties>
</file>